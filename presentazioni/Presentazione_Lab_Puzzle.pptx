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 Slab"/>
      <p:regular r:id="rId27"/>
      <p:bold r:id="rId28"/>
    </p:embeddedFont>
    <p:embeddedFont>
      <p:font typeface="Robo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Slab-bold.fntdata"/><Relationship Id="rId27" Type="http://schemas.openxmlformats.org/officeDocument/2006/relationships/font" Target="fonts/RobotoSlab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f42661e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af42661e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p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" name="Google Shape;51;p11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11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53" name="Google Shape;53;p1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4" name="Google Shape;54;p1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494375" y="755341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it"/>
              <a:t>Prolog: labirinto e puzzle 8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460950" y="1826050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 sz="2400"/>
              <a:t>Università degli studi di Torino, anno accademico 2024/25</a:t>
            </a:r>
            <a:endParaRPr sz="2400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121396" y="3560272"/>
            <a:ext cx="4126500" cy="1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 sz="2400"/>
              <a:t>Lavoro a cura di: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192000" y="1701463"/>
            <a:ext cx="87600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4000"/>
              <a:t>Labirinto</a:t>
            </a:r>
            <a:endParaRPr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192000" y="127888"/>
            <a:ext cx="87600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4000"/>
              <a:t>Breve presentazione del progetto</a:t>
            </a:r>
            <a:endParaRPr sz="4000"/>
          </a:p>
        </p:txBody>
      </p:sp>
      <p:sp>
        <p:nvSpPr>
          <p:cNvPr id="76" name="Google Shape;76;p15"/>
          <p:cNvSpPr txBox="1"/>
          <p:nvPr/>
        </p:nvSpPr>
        <p:spPr>
          <a:xfrm>
            <a:off x="192000" y="1648200"/>
            <a:ext cx="8760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Questo progetto implementa, in linguaggio Prolog, due algoritmi fondamentali di ricerca informata—</a:t>
            </a:r>
            <a:r>
              <a:rPr b="1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A* e IDA*</a:t>
            </a: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—applicati a un problema di navigazione all'interno di un labirinto.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L’obiettivo è permettere a un agente di muoversi da una posizione iniziale fino a una delle possibili uscite, ottimizzando il percorso e confrontando prestazioni, efficienza e comportamento dei due algoritmi.</a:t>
            </a:r>
            <a:endParaRPr b="0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it"/>
              <a:t>Com’è stato modellato il labirinto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"/>
              <a:t>Visto come una griglia rettangolare parametricamente definita: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Dimensioni della griglia: </a:t>
            </a:r>
            <a:r>
              <a:rPr i="1" lang="it"/>
              <a:t>num_righe/1</a:t>
            </a:r>
            <a:r>
              <a:rPr lang="it"/>
              <a:t> e </a:t>
            </a:r>
            <a:r>
              <a:rPr i="1" lang="it"/>
              <a:t>num_col/1</a:t>
            </a:r>
            <a:endParaRPr i="1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Posizione iniziale dell’agente: </a:t>
            </a:r>
            <a:r>
              <a:rPr i="1" lang="it"/>
              <a:t>iniziale/1.</a:t>
            </a:r>
            <a:endParaRPr i="1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Ostacoli: predicato </a:t>
            </a:r>
            <a:r>
              <a:rPr i="1" lang="it"/>
              <a:t>occupata/1</a:t>
            </a:r>
            <a:r>
              <a:rPr lang="it"/>
              <a:t> (identifica le celle non attraversabili).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L’agente deve raggiungere una qualunque delle posizioni indicate nel predicato </a:t>
            </a:r>
            <a:r>
              <a:rPr i="1" lang="it"/>
              <a:t>finale/1</a:t>
            </a:r>
            <a:r>
              <a:rPr lang="it"/>
              <a:t>, che elenca tutte le possibili uscite.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Mosse disponibili sono </a:t>
            </a:r>
            <a:r>
              <a:rPr i="1" lang="it"/>
              <a:t>nord, sud, est, ovest</a:t>
            </a:r>
            <a:r>
              <a:rPr lang="it"/>
              <a:t>, ciascuna vincolata da:</a:t>
            </a:r>
            <a:endParaRPr/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confini del labirinto</a:t>
            </a:r>
            <a:endParaRPr/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presenza di ostacoli nella cella di destinazione.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 validità delle mosse è gestita tramite il predicato </a:t>
            </a:r>
            <a:r>
              <a:rPr i="1" lang="it"/>
              <a:t>applicabile/2</a:t>
            </a:r>
            <a:r>
              <a:rPr lang="it"/>
              <a:t>, mentre il predicato </a:t>
            </a:r>
            <a:r>
              <a:rPr i="1" lang="it"/>
              <a:t>trasforma/3</a:t>
            </a:r>
            <a:r>
              <a:rPr lang="it"/>
              <a:t> calcola il nuovo stato dell’agente dopo un movimento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it"/>
              <a:t>Scelta dell’euristica utilizzata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87900" y="1489825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it" sz="1800"/>
              <a:t>Per ambedue le ricerche è utilizzata un’euristica </a:t>
            </a:r>
            <a:r>
              <a:rPr i="1" lang="it" sz="1800"/>
              <a:t>ammissibile e consistente</a:t>
            </a:r>
            <a:r>
              <a:rPr lang="it" sz="1800"/>
              <a:t>: la </a:t>
            </a:r>
            <a:r>
              <a:rPr lang="it" sz="1800" u="sng"/>
              <a:t>distanza di Manhattan</a:t>
            </a:r>
            <a:r>
              <a:rPr lang="it" sz="1800"/>
              <a:t>.</a:t>
            </a:r>
            <a:endParaRPr sz="18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it" sz="1800"/>
              <a:t>Il predicato manhattan/3 calcola la distanza come:</a:t>
            </a:r>
            <a:endParaRPr sz="1800"/>
          </a:p>
          <a:p>
            <a:pPr indent="457200" lvl="0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b="1" lang="it" sz="1800"/>
              <a:t>∣x1​−x2​∣+∣y1​−y2​∣</a:t>
            </a:r>
            <a:endParaRPr b="1" sz="18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it" sz="1800"/>
              <a:t>Dato che non sovrastima mai la distanza reale in un ambiente in cui ci si muove in 4 direzioni ortogonali, garantisce l’ottimalità di A* e IDA*.</a:t>
            </a:r>
            <a:endParaRPr sz="18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800"/>
              <a:t>Quando sono presenti più uscite, il predicato stato_finale_migliore/3 seleziona l’uscita più vicina dallo stato corrente.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it"/>
              <a:t>Strategia per l’ordinamento delle azioni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87900" y="1489825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it" sz="1800"/>
              <a:t>Il predicato </a:t>
            </a:r>
            <a:r>
              <a:rPr i="1" lang="it" sz="1800"/>
              <a:t>azioni_ordinate/2</a:t>
            </a:r>
            <a:r>
              <a:rPr lang="it" sz="1800"/>
              <a:t>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it" sz="1800"/>
              <a:t>Seleziona l’uscita migliore rispetto allo stato attuale.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it" sz="1800"/>
              <a:t>Ordina le azioni applicabili in base alla distanza euristica che produrrebbero dopo l'applicazione.</a:t>
            </a:r>
            <a:br>
              <a:rPr lang="it" sz="1800"/>
            </a:b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it" sz="1800"/>
              <a:t>Questo </a:t>
            </a:r>
            <a:r>
              <a:rPr b="1" lang="it" sz="1800"/>
              <a:t>migliora </a:t>
            </a:r>
            <a:r>
              <a:rPr lang="it" sz="1800"/>
              <a:t>sensibilmente le prestazioni di </a:t>
            </a:r>
            <a:r>
              <a:rPr b="1" lang="it" sz="1800"/>
              <a:t>IDA*</a:t>
            </a:r>
            <a:r>
              <a:rPr lang="it" sz="1800"/>
              <a:t>, </a:t>
            </a:r>
            <a:r>
              <a:rPr i="1" lang="it" sz="1800"/>
              <a:t>riducendo il branching effettivo.</a:t>
            </a:r>
            <a:endParaRPr i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/>
              <a:t>Implementazione IDA* 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(Iterative Deepening A*)</a:t>
            </a:r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51275" y="1144125"/>
            <a:ext cx="88266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L’algoritmo </a:t>
            </a:r>
            <a:r>
              <a:rPr b="1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IDA*</a:t>
            </a: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è implementato sfruttando soglie </a:t>
            </a:r>
            <a:r>
              <a:rPr b="1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f(n) = g(n) + h(n)</a:t>
            </a: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incrementali: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 soglia iniziale è pari all’euristica dello stato iniziale.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Ogni iterazione esegue una ricerca in profondità limitata dalla soglia.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Quando un ramo supera la soglia, il suo valore viene registrato per determinare la soglia successiva.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Sono gestite dinamicamente: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current_depth/1</a:t>
            </a: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soglia corrente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next_depth/1</a:t>
            </a: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miglior valore eccedente utilizzato per la prossima iterazione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 soluzione è trovata solo quando un percorso rispetta completamente il limite imposto da f(n).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/>
              <a:t>Implementazione A*</a:t>
            </a:r>
            <a:endParaRPr/>
          </a:p>
        </p:txBody>
      </p:sp>
      <p:sp>
        <p:nvSpPr>
          <p:cNvPr id="106" name="Google Shape;106;p20"/>
          <p:cNvSpPr txBox="1"/>
          <p:nvPr/>
        </p:nvSpPr>
        <p:spPr>
          <a:xfrm>
            <a:off x="0" y="1144125"/>
            <a:ext cx="88266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L’algoritmo </a:t>
            </a:r>
            <a:r>
              <a:rPr b="1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A*</a:t>
            </a: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utilizza una </a:t>
            </a:r>
            <a:r>
              <a:rPr b="1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coda di priorità</a:t>
            </a: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(lista ordinata) per espandere sempre il nodo con f(n) minimo.</a:t>
            </a:r>
            <a:b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Sono gestiti: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</a:t>
            </a: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frontiera dei nodi da espandere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CLOSED</a:t>
            </a: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nodi già espansi, per prevenire cicli e ridondanze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Il nodo contiene: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0" i="1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stato corrente, cammino effettuato</a:t>
            </a:r>
            <a:endParaRPr b="0" i="1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0" i="1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costo reale g(n), euristica h(n), costo totale f(n)</a:t>
            </a:r>
            <a:endParaRPr b="0" i="1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È implementata la sostituzione intelligente dei nodi in </a:t>
            </a:r>
            <a:r>
              <a:rPr b="0" i="1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 </a:t>
            </a: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viene trovato un percorso migliore verso uno stato già presente.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/>
              <a:t>Confronti prestazionali</a:t>
            </a:r>
            <a:endParaRPr/>
          </a:p>
        </p:txBody>
      </p:sp>
      <p:sp>
        <p:nvSpPr>
          <p:cNvPr id="112" name="Google Shape;112;p21"/>
          <p:cNvSpPr txBox="1"/>
          <p:nvPr/>
        </p:nvSpPr>
        <p:spPr>
          <a:xfrm>
            <a:off x="0" y="1144125"/>
            <a:ext cx="8826600" cy="40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Il predicato </a:t>
            </a:r>
            <a:r>
              <a:rPr b="1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confronta_algoritmi/0</a:t>
            </a: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permette di valutare: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tempo di esecuzione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lunghezza del percorso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efficienza relativa tra A* e IDA*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genere: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A*</a:t>
            </a: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è più veloce, espande meno nodi ma consuma più memoria.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IDA*</a:t>
            </a: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è più leggero in memoria ma richiede più tempo a causa delle riesplorazioni.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(aggiungo dopo tabella x enfatizzare ciò)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460950" y="10478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it"/>
              <a:t>Ritorna un sistema completo di navigazione intelligente basato su due algoritmi fondamentali di ricerca informata.</a:t>
            </a:r>
            <a:br>
              <a:rPr lang="it"/>
            </a:br>
            <a:r>
              <a:rPr lang="it"/>
              <a:t> Gli elementi distintivi sono:</a:t>
            </a:r>
            <a:endParaRPr/>
          </a:p>
          <a:p>
            <a:pPr indent="-29845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it"/>
              <a:t>euristica ammissibile e funzionale (Manhattan)</a:t>
            </a:r>
            <a:endParaRPr/>
          </a:p>
          <a:p>
            <a:pPr indent="-2984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it"/>
              <a:t>gestione elegante di più uscite</a:t>
            </a:r>
            <a:endParaRPr/>
          </a:p>
          <a:p>
            <a:pPr indent="-2984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it"/>
              <a:t>ottimizzazione dell’ordinamento delle azioni</a:t>
            </a:r>
            <a:endParaRPr/>
          </a:p>
          <a:p>
            <a:pPr indent="-2984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it"/>
              <a:t>implementazione fedele sia di A* che IDA*</a:t>
            </a:r>
            <a:endParaRPr/>
          </a:p>
          <a:p>
            <a:pPr indent="-2984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it"/>
              <a:t>benchmarking integrato</a:t>
            </a:r>
            <a:endParaRPr/>
          </a:p>
          <a:p>
            <a:pPr indent="-2984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it"/>
              <a:t>modellazione modulare del problema (separazione tra labirinto, azioni e algoritmi)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192000" y="1701463"/>
            <a:ext cx="87600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4000"/>
              <a:t>Puzzle8</a:t>
            </a:r>
            <a:endParaRPr sz="4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192000" y="127888"/>
            <a:ext cx="87600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4000"/>
              <a:t>Breve presentazione del progetto</a:t>
            </a:r>
            <a:endParaRPr sz="4000"/>
          </a:p>
        </p:txBody>
      </p:sp>
      <p:sp>
        <p:nvSpPr>
          <p:cNvPr id="128" name="Google Shape;128;p24"/>
          <p:cNvSpPr txBox="1"/>
          <p:nvPr/>
        </p:nvSpPr>
        <p:spPr>
          <a:xfrm>
            <a:off x="192000" y="1648200"/>
            <a:ext cx="8760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Questo progetto implementa, in linguaggio Prolog, due algoritmi fondamentali di ricerca informata—</a:t>
            </a:r>
            <a:r>
              <a:rPr b="1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A* e IDA*</a:t>
            </a: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—applicati a un problema di navigazione all'interno di un labirinto.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L’obiettivo è permettere a un agente di muoversi da una posizione iniziale fino a una delle possibili uscite, ottimizzando il percorso e confrontando prestazioni, efficienza e comportamento dei due algoritmi.</a:t>
            </a:r>
            <a:endParaRPr b="0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it"/>
              <a:t>Com’è stato modellato il puzzle</a:t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87900" y="11441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it"/>
              <a:t>E’ composto da: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it"/>
              <a:t>8 tessere numerate</a:t>
            </a:r>
            <a:r>
              <a:rPr lang="it"/>
              <a:t> 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it"/>
              <a:t>es. [0,1,2,3,4,5,6,7,8]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it"/>
              <a:t>iniziale/1 e finale/1 definiscono rispettivamente la configurazione di partenza e quella obiettivo.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it"/>
              <a:t>I predicati posizione_indice/3 e indice_posizione/3 convertono tra: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it" sz="1800"/>
              <a:t>indice nella lista (1–9)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it" sz="1800"/>
              <a:t>coppia (riga, colonna) su griglia 3×3.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it"/>
              <a:t>Le tessere possono essere spostate in quattro direzioni: </a:t>
            </a:r>
            <a:r>
              <a:rPr b="1" lang="it"/>
              <a:t>su, giù, sinistra, destra</a:t>
            </a:r>
            <a:r>
              <a:rPr lang="it"/>
              <a:t>, scambiandosi con lo spazio vuoto.</a:t>
            </a:r>
            <a:br>
              <a:rPr lang="it"/>
            </a:br>
            <a:r>
              <a:rPr lang="it"/>
              <a:t> L’obiettivo è raggiungere lo stato finale; lo stato è rappresentato come una lista.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it"/>
              <a:t>Scelta dell’euristica utilizzata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87900" y="1489825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it" sz="1800"/>
              <a:t>Per ambedue le ricerche è utilizzata un’euristica </a:t>
            </a:r>
            <a:r>
              <a:rPr i="1" lang="it" sz="1800"/>
              <a:t>ammissibile e consistente</a:t>
            </a:r>
            <a:r>
              <a:rPr lang="it" sz="1800"/>
              <a:t>: la </a:t>
            </a:r>
            <a:r>
              <a:rPr lang="it" sz="1800" u="sng"/>
              <a:t>distanza di Manhattan</a:t>
            </a:r>
            <a:r>
              <a:rPr lang="it" sz="1800"/>
              <a:t> (calcolata come somma degli scostamenti (riga, colonna) di ogni tessera rispetto alla posizione finale.).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it" sz="1800"/>
              <a:t>Questa euristica è: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it" sz="1800"/>
              <a:t>ammissibile</a:t>
            </a:r>
            <a:r>
              <a:rPr lang="it" sz="1800"/>
              <a:t> → non sovrastima mai il costo reale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 sz="1800"/>
              <a:t>consistente </a:t>
            </a:r>
            <a:r>
              <a:rPr lang="it" sz="1800"/>
              <a:t>→ rispetta il triangolo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perfettamente </a:t>
            </a:r>
            <a:r>
              <a:rPr b="1" lang="it" sz="1800"/>
              <a:t>aderente </a:t>
            </a:r>
            <a:r>
              <a:rPr lang="it" sz="1800"/>
              <a:t>al modello di mosse del puzzle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it" sz="1800"/>
              <a:t>Garantisce quindi l’ottimalità della soluzione trovata sia da A* sia da IDA*.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it" sz="1800"/>
              <a:t>Il predicato manhattan/3 calcola la distanza come:</a:t>
            </a:r>
            <a:endParaRPr sz="1800"/>
          </a:p>
          <a:p>
            <a:pPr indent="457200" lvl="0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b="1" lang="it" sz="1800"/>
              <a:t>∣x1​−x2​∣+∣y1​−y2​∣</a:t>
            </a:r>
            <a:endParaRPr b="1" sz="18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it" sz="1800"/>
              <a:t>Dato che non sovrastima mai la distanza reale in un ambiente in cui ci si muove in 4 direzioni ortogonali, garantisce l’ottimalità di A* e IDA*.</a:t>
            </a:r>
            <a:endParaRPr sz="18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800"/>
              <a:t>Quando sono presenti più uscite, il predicato stato_finale_migliore/3 seleziona l’uscita più vicina dallo stato corrente.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it"/>
              <a:t>Strategia per l’ordinamento delle azioni</a:t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87900" y="1489825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it" sz="1800">
                <a:latin typeface="Roboto Slab"/>
                <a:ea typeface="Roboto Slab"/>
                <a:cs typeface="Roboto Slab"/>
                <a:sym typeface="Roboto Slab"/>
              </a:rPr>
              <a:t>Il modulo actions.pl definisce in modo rigoroso tutte le possibili trasformazioni dello stato del puzzle: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i="1" lang="it" sz="1800">
                <a:latin typeface="Roboto Slab"/>
                <a:ea typeface="Roboto Slab"/>
                <a:cs typeface="Roboto Slab"/>
                <a:sym typeface="Roboto Slab"/>
              </a:rPr>
              <a:t>applicabile/2</a:t>
            </a:r>
            <a:r>
              <a:rPr lang="it" sz="1800">
                <a:latin typeface="Roboto Slab"/>
                <a:ea typeface="Roboto Slab"/>
                <a:cs typeface="Roboto Slab"/>
                <a:sym typeface="Roboto Slab"/>
              </a:rPr>
              <a:t>: se un’azione può essere eseguita nello stato corrente.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i="1" lang="it" sz="1800">
                <a:latin typeface="Roboto Slab"/>
                <a:ea typeface="Roboto Slab"/>
                <a:cs typeface="Roboto Slab"/>
                <a:sym typeface="Roboto Slab"/>
              </a:rPr>
              <a:t>trasforma/3</a:t>
            </a:r>
            <a:r>
              <a:rPr lang="it" sz="1800">
                <a:latin typeface="Roboto Slab"/>
                <a:ea typeface="Roboto Slab"/>
                <a:cs typeface="Roboto Slab"/>
                <a:sym typeface="Roboto Slab"/>
              </a:rPr>
              <a:t>: produce il nuovo stato dopo uno spostamento.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i="1" lang="it" sz="1800">
                <a:latin typeface="Roboto Slab"/>
                <a:ea typeface="Roboto Slab"/>
                <a:cs typeface="Roboto Slab"/>
                <a:sym typeface="Roboto Slab"/>
              </a:rPr>
              <a:t>indice_posizione/3 e scambia/4</a:t>
            </a:r>
            <a:r>
              <a:rPr lang="it" sz="1800">
                <a:latin typeface="Roboto Slab"/>
                <a:ea typeface="Roboto Slab"/>
                <a:cs typeface="Roboto Slab"/>
                <a:sym typeface="Roboto Slab"/>
              </a:rPr>
              <a:t> gestiscono la logica di scambio delle tessere.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it" sz="1800">
                <a:latin typeface="Roboto Slab"/>
                <a:ea typeface="Roboto Slab"/>
                <a:cs typeface="Roboto Slab"/>
                <a:sym typeface="Roboto Slab"/>
              </a:rPr>
              <a:t>Ogni mossa è vincolata dai limiti strutturali della griglia:</a:t>
            </a:r>
            <a:br>
              <a:rPr lang="it" sz="1800">
                <a:latin typeface="Roboto Slab"/>
                <a:ea typeface="Roboto Slab"/>
                <a:cs typeface="Roboto Slab"/>
                <a:sym typeface="Roboto Slab"/>
              </a:rPr>
            </a:br>
            <a:r>
              <a:rPr lang="it" sz="1800">
                <a:latin typeface="Roboto Slab"/>
                <a:ea typeface="Roboto Slab"/>
                <a:cs typeface="Roboto Slab"/>
                <a:sym typeface="Roboto Slab"/>
              </a:rPr>
              <a:t> non si può spostare il vuoto "su" se è già in prima riga, né "sinistra" se è in prima colonna, e così via.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/>
              <a:t>Implementazione IDA* 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(Iterative Deepening A*)</a:t>
            </a:r>
            <a:endParaRPr/>
          </a:p>
        </p:txBody>
      </p:sp>
      <p:sp>
        <p:nvSpPr>
          <p:cNvPr id="152" name="Google Shape;152;p28"/>
          <p:cNvSpPr txBox="1"/>
          <p:nvPr/>
        </p:nvSpPr>
        <p:spPr>
          <a:xfrm>
            <a:off x="51275" y="1144125"/>
            <a:ext cx="88266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Caratteristiche principali dell’implementazione: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Soglia iniziale</a:t>
            </a: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basata su h(start).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Ricerca in profondità limitata da </a:t>
            </a:r>
            <a:r>
              <a:rPr b="1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f(n) = g(n) + h(n)</a:t>
            </a: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Gestione accurata dei valori oltre soglia tramite i predicati: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b="0" i="1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current_depth/1 (memorizza soglia corren</a:t>
            </a:r>
            <a:r>
              <a:rPr i="1" lang="it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te)</a:t>
            </a:r>
            <a:endParaRPr b="0" i="1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b="0" i="1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next_depth/1 (tiene il minimo F(</a:t>
            </a:r>
            <a:r>
              <a:rPr i="1" lang="it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n) che ha superato la soglia, per iter. succ</a:t>
            </a:r>
            <a:endParaRPr b="0" i="1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Evita cicli</a:t>
            </a: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memorizzando gli stati visitati.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Aggiorna dinamicamente la soglia in base al minimo superamento registrato.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it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Memoria lineare nella profondità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it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Tempo potenzialmente alto (stati ri-espansi in iter. succ)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/>
              <a:t>Implementazione A*</a:t>
            </a:r>
            <a:endParaRPr/>
          </a:p>
        </p:txBody>
      </p:sp>
      <p:sp>
        <p:nvSpPr>
          <p:cNvPr id="158" name="Google Shape;158;p29"/>
          <p:cNvSpPr txBox="1"/>
          <p:nvPr/>
        </p:nvSpPr>
        <p:spPr>
          <a:xfrm>
            <a:off x="0" y="1144125"/>
            <a:ext cx="88266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Struttura dei nodi:</a:t>
            </a:r>
            <a:r>
              <a:rPr b="1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nodo</a:t>
            </a:r>
            <a:r>
              <a:rPr b="0" i="1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(Stato, Cammino, Gn, Hn, Fn)</a:t>
            </a:r>
            <a:endParaRPr b="0" i="1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Elementi chiave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b="0" i="1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OPEN:</a:t>
            </a: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lista mantenuta sempre ordinata per F-n.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1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CLOSED:</a:t>
            </a: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per evitare riesplorazioni.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0" i="1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Predicati modulari</a:t>
            </a: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per: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rimuovere il miglior nodo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testare la presenza di stati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sostituire nodi peggiori con migliori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invertire il cammino finale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Generazione dei successori basata su </a:t>
            </a:r>
            <a:r>
              <a:rPr b="0" i="1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applicabile/2 e trasforma/3</a:t>
            </a:r>
            <a:endParaRPr b="0" i="1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it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Richiede più memoria </a:t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/>
              <a:t>Confronti prestazionali</a:t>
            </a:r>
            <a:endParaRPr/>
          </a:p>
        </p:txBody>
      </p:sp>
      <p:sp>
        <p:nvSpPr>
          <p:cNvPr id="164" name="Google Shape;164;p30"/>
          <p:cNvSpPr txBox="1"/>
          <p:nvPr/>
        </p:nvSpPr>
        <p:spPr>
          <a:xfrm>
            <a:off x="0" y="1144125"/>
            <a:ext cx="8826600" cy="27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Il predicato </a:t>
            </a:r>
            <a:r>
              <a:rPr b="1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confronta_algoritmi/0</a:t>
            </a: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permette di valutare: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tempo di esecuzione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lunghezza del percorso ed il percorso trovato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efficienza relativa tra A* e IDA*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(aggiungo dopo tabella x enfatizzare ciò) considero memo, tempo, ottimalità, riesplorazioni, uso nella teoria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/>
              <a:t>Confronti prestazionali</a:t>
            </a:r>
            <a:endParaRPr/>
          </a:p>
        </p:txBody>
      </p:sp>
      <p:sp>
        <p:nvSpPr>
          <p:cNvPr id="170" name="Google Shape;170;p31"/>
          <p:cNvSpPr txBox="1"/>
          <p:nvPr/>
        </p:nvSpPr>
        <p:spPr>
          <a:xfrm>
            <a:off x="0" y="1144125"/>
            <a:ext cx="8826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it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A* più veloce di IDA* in termini di nodi espansi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idx="1" type="body"/>
          </p:nvPr>
        </p:nvSpPr>
        <p:spPr>
          <a:xfrm>
            <a:off x="460950" y="1047825"/>
            <a:ext cx="8222100" cy="11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it"/>
              <a:t>Ritorna un sistema completo di navigazione intelligente basato su due algoritmi fondamentali di ricerca informata.</a:t>
            </a:r>
            <a:br>
              <a:rPr lang="it"/>
            </a:br>
            <a:r>
              <a:rPr lang="it"/>
              <a:t> Gli elementi distintivi sono: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it"/>
              <a:t>Punti di forza del tuo lavoro: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it"/>
              <a:t>modellazione chiara del puzzle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it"/>
              <a:t>euristica ammissibile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it"/>
              <a:t>implementazione robusta di A* e IDA*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it"/>
              <a:t>confronto sperimentale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it"/>
              <a:t>codice modulare e ben strutturato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/>
          <p:nvPr>
            <p:ph idx="4294967295" type="title"/>
          </p:nvPr>
        </p:nvSpPr>
        <p:spPr>
          <a:xfrm>
            <a:off x="2123550" y="2095050"/>
            <a:ext cx="48969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it" sz="3000"/>
              <a:t>Grazie</a:t>
            </a:r>
            <a:r>
              <a:rPr lang="it"/>
              <a:t> per l’attenzione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