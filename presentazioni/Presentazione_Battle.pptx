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Roboto Slab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f3d3e234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af3d3e2346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f3d3e234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af3d3e2346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3d3e234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af3d3e2346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f3d3e234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af3d3e2346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f3d3e234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af3d3e2346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896808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4457271"/>
            <a:ext cx="1081625" cy="1499896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58523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4065933"/>
            <a:ext cx="5783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4"/>
          <p:cNvCxnSpPr/>
          <p:nvPr/>
        </p:nvCxnSpPr>
        <p:spPr>
          <a:xfrm>
            <a:off x="4359602" y="375661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480750" y="2353267"/>
            <a:ext cx="82221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5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5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6"/>
          <p:cNvCxnSpPr/>
          <p:nvPr/>
        </p:nvCxnSpPr>
        <p:spPr>
          <a:xfrm>
            <a:off x="492563" y="1680378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6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879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756200" y="1986433"/>
            <a:ext cx="39999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8"/>
          <p:cNvCxnSpPr/>
          <p:nvPr/>
        </p:nvCxnSpPr>
        <p:spPr>
          <a:xfrm>
            <a:off x="489218" y="1883036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8"/>
          <p:cNvSpPr txBox="1"/>
          <p:nvPr>
            <p:ph type="title"/>
          </p:nvPr>
        </p:nvSpPr>
        <p:spPr>
          <a:xfrm>
            <a:off x="3879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387900" y="2125367"/>
            <a:ext cx="28080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4572000" y="-10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10"/>
          <p:cNvCxnSpPr/>
          <p:nvPr/>
        </p:nvCxnSpPr>
        <p:spPr>
          <a:xfrm>
            <a:off x="5029675" y="5994004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10"/>
          <p:cNvSpPr txBox="1"/>
          <p:nvPr>
            <p:ph type="title"/>
          </p:nvPr>
        </p:nvSpPr>
        <p:spPr>
          <a:xfrm>
            <a:off x="265500" y="1612100"/>
            <a:ext cx="4045200" cy="200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52" name="Google Shape;52;p10"/>
          <p:cNvSpPr txBox="1"/>
          <p:nvPr>
            <p:ph idx="1" type="subTitle"/>
          </p:nvPr>
        </p:nvSpPr>
        <p:spPr>
          <a:xfrm>
            <a:off x="265500" y="3692001"/>
            <a:ext cx="40452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9500" y="5644967"/>
            <a:ext cx="5998800" cy="7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150" y="6769100"/>
            <a:ext cx="9143700" cy="8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 txBox="1"/>
          <p:nvPr>
            <p:ph hasCustomPrompt="1" type="title"/>
          </p:nvPr>
        </p:nvSpPr>
        <p:spPr>
          <a:xfrm>
            <a:off x="387900" y="1536600"/>
            <a:ext cx="8368200" cy="20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87900" y="3892600"/>
            <a:ext cx="83682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610700"/>
            <a:ext cx="83682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986432"/>
            <a:ext cx="8368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1680302" y="943284"/>
            <a:ext cx="5783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Progetto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Clips</a:t>
            </a:r>
            <a:r>
              <a:rPr lang="en-US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Battle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30725" y="2962200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Università degli studi di Torino, anno accademico 2024/25</a:t>
            </a:r>
            <a:endParaRPr b="0" i="0" sz="2400" u="none" cap="none" strike="noStrike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91171" y="5000772"/>
            <a:ext cx="4126500" cy="14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BC34A"/>
                </a:solidFill>
                <a:latin typeface="Roboto Slab"/>
                <a:ea typeface="Roboto Slab"/>
                <a:cs typeface="Roboto Slab"/>
                <a:sym typeface="Roboto Slab"/>
              </a:rPr>
              <a:t>Lavoro a cura di:</a:t>
            </a:r>
            <a:endParaRPr b="0" i="0" sz="2400" u="none" cap="none" strike="noStrike">
              <a:solidFill>
                <a:srgbClr val="8BC34A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Introduzione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5420650" y="1600200"/>
            <a:ext cx="3266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40"/>
              </a:spcBef>
              <a:spcAft>
                <a:spcPts val="1200"/>
              </a:spcAft>
              <a:buSzPts val="1800"/>
              <a:buNone/>
            </a:pPr>
            <a:r>
              <a:rPr lang="en-US"/>
              <a:t>Qui viene illustrata una delle mappe utilizzate nell’implementazione e nel test delle varie strategie</a:t>
            </a:r>
            <a:endParaRPr/>
          </a:p>
        </p:txBody>
      </p:sp>
      <p:pic>
        <p:nvPicPr>
          <p:cNvPr id="78" name="Google Shape;78;p15" title="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1" y="1600200"/>
            <a:ext cx="4681375" cy="408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Modellazione </a:t>
            </a: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della conoscenza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57200" y="1417650"/>
            <a:ext cx="8229600" cy="4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Tipi di fatti usati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Fatti ordinati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(ordered facts) per tuple semplici: </a:t>
            </a:r>
            <a:r>
              <a:rPr lang="en-US" sz="18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(posizione x y)</a:t>
            </a:r>
            <a:r>
              <a:rPr lang="en-US" sz="18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 utile per enumerare oggetti senza attributi nominati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Fatti non ordinati / deftemplate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per strutture con campi: </a:t>
            </a:r>
            <a:r>
              <a:rPr lang="en-US" sz="18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(deftemplate nave (slot id) (slot x) (slot y) (slot stato))</a:t>
            </a:r>
            <a:endParaRPr sz="18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Perché entrambi?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Ordinati: semplicità e matching rapido per pattern semplici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Deftemplate: leggibilità, estendibilità (aggiunta di probabilità, confidenza, timestamp)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Esempio di fatto creato per ipotesi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(assert (possibile-posizione id1 3 5 confidence 0.5))</a:t>
            </a:r>
            <a:endParaRPr sz="1800">
              <a:solidFill>
                <a:srgbClr val="18803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Qui creiamo </a:t>
            </a:r>
            <a:r>
              <a:rPr i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ipotesi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sulla base di osservazioni parziali (fatto </a:t>
            </a:r>
            <a:r>
              <a:rPr i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non certo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Modellazione delle regole di expertise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Organizzazione delle regole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Regole diagnostiche (da osservazioni a ipotesi)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Regole di propagazione (espansione di aree possibili)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Regole di priorità/risoluzione (se conflitto tra ipotesi)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Regole di aggiornamento (fatti osservati -&gt; eliminazione/aggiustamento ipotesi)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Strategie di soluzione implementate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/>
              <a:t>Agente Naive</a:t>
            </a:r>
            <a:r>
              <a:rPr lang="en-US"/>
              <a:t> (regole semplici) —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188038"/>
                </a:solidFill>
              </a:rPr>
              <a:t>4_Agent_Naive.clp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Regole locali: se osservi acqua, escludi celle attorno; se osservi frammento, assumi nave vicino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Nessuna gestione sofisticata di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/>
              <a:t>confidenza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Agente Smart</a:t>
            </a:r>
            <a:r>
              <a:rPr lang="en-US"/>
              <a:t> (regole + heuristics) —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188038"/>
                </a:solidFill>
              </a:rPr>
              <a:t>4_Agent_Smart.clp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/>
              <a:t>Usa fatti con slot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188038"/>
                </a:solidFill>
              </a:rPr>
              <a:t>confidence</a:t>
            </a:r>
            <a:endParaRPr>
              <a:solidFill>
                <a:srgbClr val="188038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Regole che combinano osservazioni multiple per aumentare/decrementare confidenza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Scelta basata su massima confidenza e regole di tie-breaking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Come confrontare i sistemi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Metriche suggerite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Accuratezza rilevamento (percentuale navi posizionate correttamente)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False positives / false negatives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Numero di regole attivate (complessità)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Tempo di inferenza (numero di cicli del motore regole)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Robustezza rispetto a osservabilità iniziale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Protocollo sperimentale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Per ogni strategia, eseguire N=50 scenari casuali per ogni combinazione di parametri (vedi slide successiva)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Calcolare medie e deviazione standard per le metriche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Varianti di scenario da testare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</a:t>
            </a:r>
            <a:r>
              <a:rPr lang="en-US"/>
              <a:t>arametri da variare: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Posizione delle navi: uniforme random, cluster, bordo vs centro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Numero di celle note all'inizio (observability): 0%, 5%, 15%, 30% delle celle osservate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Rumore nelle osservazioni: presenza di osservazioni errate (falsi positivi/negativi)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Esempi concreti di scenari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Scenario A: 10x10, 5 navi, 0% noto — agente parte da zero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Scenario B: 10x10, 5 navi, 10% celle osservate solo acqua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Scenario C: 10x10, 5 navi, 10% celle osservate con alcuni frammenti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Risultati attesi e interpretazione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Aspettative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Agente Naive: buone prestazioni con alta osservabilità, peggiora molto con poca osservabilità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Agente Smart: migliore fusione di osservazioni multiple -&gt; più robusto con osservabilità ridotta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Strategia probabilistica/ricerca: può superare regole pure quando il modello di probabilità è accurato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/>
              <a:t>Cosa osservare nelle curve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Accuratezza vs % di osservabilità (curva di apprendimento)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Varianza dei risultati: più alta per agenti deterministici semplici quando osservazioni limitate</a:t>
            </a:r>
            <a:endParaRPr/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Limiti della soluzione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Dipendenza forte dalla qualità delle regole (copertura incompleta porta a errori sistematici)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Scalabilità: esplosione del numero di ipotesi se molte celle possibili -&gt; bisogno di pruning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Caso "conoscenza iniziale nulla":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Agente basato solo su regole locali può non avere segnale e generare molte ipotesi inutili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Necessità di meccanismi di esplorazione attiva (es. ottenere osservazioni) oppure priors forti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Limiti della soluzione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Dipendenza forte dalla qualità delle regole (copertura incompleta porta a errori sistematici)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Scalabilità: esplosione del numero di ipotesi se molte celle possibili -&gt; bisogno di pruning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Caso "conoscenza iniziale nulla":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Agente basato solo su regole locali può non avere segnale e generare molte ipotesi inutili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/>
              <a:t>Necessità di meccanismi di esplorazione attiva (es. ottenere osservazioni) oppure priors forti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Diversi scenari e punteggi vari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Conclusione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Modellare sia fatti ordinati che template è utile: ordinati per performance, template per estensibilità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Diverse strategie offrono trade-off: semplicità vs robustezza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US"/>
              <a:t>Se l'agente inizia dal nulla, servono priors o azioni di esplorazione per ridurre incertezza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22525"/>
            <a:ext cx="8229600" cy="43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457200" y="2857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Roboto"/>
                <a:ea typeface="Roboto"/>
                <a:cs typeface="Roboto"/>
                <a:sym typeface="Roboto"/>
              </a:rPr>
              <a:t>Grazie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